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2369ab2bb84be2" /><Relationship Type="http://schemas.openxmlformats.org/officeDocument/2006/relationships/extended-properties" Target="/docProps/app.xml" Id="R4836da79972c4b06" /><Relationship Type="http://schemas.openxmlformats.org/officeDocument/2006/relationships/officeDocument" Target="/ppt/presentation.xml" Id="Rf37b92ef708d4cd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c13021c128a4940"/>
  </p:sldMasterIdLst>
  <p:notesMasterIdLst>
    <p:notesMasterId xmlns:r="http://schemas.openxmlformats.org/officeDocument/2006/relationships" r:id="R7204811a6f044815"/>
  </p:notesMasterIdLst>
  <p:sldIdLst>
    <p:sldId xmlns:r="http://schemas.openxmlformats.org/officeDocument/2006/relationships" id="256" r:id="R0b7282617a324eec"/>
    <p:sldId xmlns:r="http://schemas.openxmlformats.org/officeDocument/2006/relationships" id="257" r:id="R26cbcbc9bc444aa6"/>
    <p:sldId xmlns:r="http://schemas.openxmlformats.org/officeDocument/2006/relationships" id="258" r:id="R880d3566882a4d98"/>
    <p:sldId xmlns:r="http://schemas.openxmlformats.org/officeDocument/2006/relationships" id="259" r:id="Ra3904185121f4097"/>
    <p:sldId xmlns:r="http://schemas.openxmlformats.org/officeDocument/2006/relationships" id="260" r:id="R44864b437a224dd9"/>
    <p:sldId xmlns:r="http://schemas.openxmlformats.org/officeDocument/2006/relationships" id="261" r:id="R2fbd564d418448f1"/>
    <p:sldId xmlns:r="http://schemas.openxmlformats.org/officeDocument/2006/relationships" id="262" r:id="Rab942a4946294d2b"/>
    <p:sldId xmlns:r="http://schemas.openxmlformats.org/officeDocument/2006/relationships" id="263" r:id="Rc17687954dba4e8b"/>
    <p:sldId xmlns:r="http://schemas.openxmlformats.org/officeDocument/2006/relationships" id="264" r:id="R87758817967e43b9"/>
    <p:sldId xmlns:r="http://schemas.openxmlformats.org/officeDocument/2006/relationships" id="265" r:id="R24b814bbc2e24ddb"/>
    <p:sldId xmlns:r="http://schemas.openxmlformats.org/officeDocument/2006/relationships" id="266" r:id="R8e6f781d31114e51"/>
  </p:sldIdLst>
  <p:sldSz cx="12192000" cy="6858000"/>
  <p:notesSz cx="6858000" cy="9144000"/>
  <p:embeddedFontLst>
    <p:embeddedFont>
      <p:font typeface="Poppins"/>
      <p:regular xmlns:r="http://schemas.openxmlformats.org/officeDocument/2006/relationships" r:id="Rb4d534e8da6f4c84"/>
      <p:bold xmlns:r="http://schemas.openxmlformats.org/officeDocument/2006/relationships" r:id="R24f9b25b4fc14a84"/>
    </p:embeddedFont>
    <p:embeddedFont>
      <p:font typeface="Fraunces"/>
      <p:regular xmlns:r="http://schemas.openxmlformats.org/officeDocument/2006/relationships" r:id="Rf1fa91f601c04767"/>
      <p:bold xmlns:r="http://schemas.openxmlformats.org/officeDocument/2006/relationships" r:id="Rc6faf96b27f144d4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ab8cebfe749d7" /><Relationship Type="http://schemas.openxmlformats.org/officeDocument/2006/relationships/slideMaster" Target="/ppt/slideMasters/slideMaster1.xml" Id="Rac13021c128a4940" /><Relationship Type="http://schemas.openxmlformats.org/officeDocument/2006/relationships/notesMaster" Target="/ppt/notesMasters/notesMaster1.xml" Id="R7204811a6f044815" /><Relationship Type="http://schemas.openxmlformats.org/officeDocument/2006/relationships/presProps" Target="/ppt/presProps.xml" Id="R3765f99b3dd04b39" /><Relationship Type="http://schemas.openxmlformats.org/officeDocument/2006/relationships/viewProps" Target="/ppt/viewProps.xml" Id="R22b9abffc9a54212" /><Relationship Type="http://schemas.openxmlformats.org/officeDocument/2006/relationships/tableStyles" Target="/ppt/tableStyles.xml" Id="R3996bf7f53194f71" /><Relationship Type="http://schemas.openxmlformats.org/officeDocument/2006/relationships/font" Target="/ppt/fonts/font.dat" Id="Rb4d534e8da6f4c84" /><Relationship Type="http://schemas.openxmlformats.org/officeDocument/2006/relationships/font" Target="/ppt/fonts/font2.dat" Id="R24f9b25b4fc14a84" /><Relationship Type="http://schemas.openxmlformats.org/officeDocument/2006/relationships/font" Target="/ppt/fonts/font3.dat" Id="Rf1fa91f601c04767" /><Relationship Type="http://schemas.openxmlformats.org/officeDocument/2006/relationships/font" Target="/ppt/fonts/font4.dat" Id="Rc6faf96b27f144d4" /><Relationship Type="http://schemas.openxmlformats.org/officeDocument/2006/relationships/slide" Target="/ppt/slides/slide1.xml" Id="R0b7282617a324eec" /><Relationship Type="http://schemas.openxmlformats.org/officeDocument/2006/relationships/slide" Target="/ppt/slides/slide2.xml" Id="R26cbcbc9bc444aa6" /><Relationship Type="http://schemas.openxmlformats.org/officeDocument/2006/relationships/slide" Target="/ppt/slides/slide3.xml" Id="R880d3566882a4d98" /><Relationship Type="http://schemas.openxmlformats.org/officeDocument/2006/relationships/slide" Target="/ppt/slides/slide4.xml" Id="Ra3904185121f4097" /><Relationship Type="http://schemas.openxmlformats.org/officeDocument/2006/relationships/slide" Target="/ppt/slides/slide5.xml" Id="R44864b437a224dd9" /><Relationship Type="http://schemas.openxmlformats.org/officeDocument/2006/relationships/slide" Target="/ppt/slides/slide6.xml" Id="R2fbd564d418448f1" /><Relationship Type="http://schemas.openxmlformats.org/officeDocument/2006/relationships/slide" Target="/ppt/slides/slide7.xml" Id="Rab942a4946294d2b" /><Relationship Type="http://schemas.openxmlformats.org/officeDocument/2006/relationships/slide" Target="/ppt/slides/slide8.xml" Id="Rc17687954dba4e8b" /><Relationship Type="http://schemas.openxmlformats.org/officeDocument/2006/relationships/slide" Target="/ppt/slides/slide9.xml" Id="R87758817967e43b9" /><Relationship Type="http://schemas.openxmlformats.org/officeDocument/2006/relationships/slide" Target="/ppt/slides/slide10.xml" Id="R24b814bbc2e24ddb" /><Relationship Type="http://schemas.openxmlformats.org/officeDocument/2006/relationships/slide" Target="/ppt/slides/slide11.xml" Id="R8e6f781d3111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80aab20119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GGN: Cardiovascular Risk Screening — Project Deck">
  <a:themeElements>
    <a:clrScheme name="FGGN: Cardiovascular Risk Screening — Project Deck">
      <a:dk1>
        <a:srgbClr val="3E2F52"/>
      </a:dk1>
      <a:lt1>
        <a:srgbClr val="FFF8F3"/>
      </a:lt1>
      <a:dk2>
        <a:srgbClr val="6E617A"/>
      </a:dk2>
      <a:lt2>
        <a:srgbClr val="ECE4E3"/>
      </a:lt2>
      <a:accent1>
        <a:srgbClr val="5B4670"/>
      </a:accent1>
      <a:accent2>
        <a:srgbClr val="F4D6DC"/>
      </a:accent2>
      <a:accent3>
        <a:srgbClr val="9AA0A6"/>
      </a:accent3>
      <a:accent4>
        <a:srgbClr val="8B7F92"/>
      </a:accent4>
      <a:accent5>
        <a:srgbClr val="A89EAB"/>
      </a:accent5>
      <a:accent6>
        <a:srgbClr val="C5BCC3"/>
      </a:accent6>
      <a:hlink>
        <a:srgbClr val="0563C1"/>
      </a:hlink>
      <a:folHlink>
        <a:srgbClr val="954F72"/>
      </a:folHlink>
    </a:clrScheme>
    <a:fontScheme name="FGGN: Cardiovascular Risk Screening — Project Deck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GGN: Cardiovascular Risk Screening — Project De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10e212e7c4230" /><Relationship Type="http://schemas.openxmlformats.org/officeDocument/2006/relationships/notesMaster" Target="/ppt/notesMasters/notesMaster1.xml" Id="Re34777c52ebb4a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00c1046ab4b6d" /><Relationship Type="http://schemas.openxmlformats.org/officeDocument/2006/relationships/notesMaster" Target="/ppt/notesMasters/notesMaster1.xml" Id="Rad9f558e9294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a1cc3754b4f11" /><Relationship Type="http://schemas.openxmlformats.org/officeDocument/2006/relationships/notesMaster" Target="/ppt/notesMasters/notesMaster1.xml" Id="R4d574e69e471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cc5c1d626492a" /><Relationship Type="http://schemas.openxmlformats.org/officeDocument/2006/relationships/notesMaster" Target="/ppt/notesMasters/notesMaster1.xml" Id="R619161bc67f6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fbd67859d44de" /><Relationship Type="http://schemas.openxmlformats.org/officeDocument/2006/relationships/notesMaster" Target="/ppt/notesMasters/notesMaster1.xml" Id="Rb47298f9e2164b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b4149bde34ee9" /><Relationship Type="http://schemas.openxmlformats.org/officeDocument/2006/relationships/notesMaster" Target="/ppt/notesMasters/notesMaster1.xml" Id="Rca27ddc1a351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2640f574d744bd" /><Relationship Type="http://schemas.openxmlformats.org/officeDocument/2006/relationships/notesMaster" Target="/ppt/notesMasters/notesMaster1.xml" Id="R590c38f5ee9942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cddaa7a0c4da2" /><Relationship Type="http://schemas.openxmlformats.org/officeDocument/2006/relationships/notesMaster" Target="/ppt/notesMasters/notesMaster1.xml" Id="Rd37a52e8c4a346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7c2397e5494a64" /><Relationship Type="http://schemas.openxmlformats.org/officeDocument/2006/relationships/notesMaster" Target="/ppt/notesMasters/notesMaster1.xml" Id="Rc0cd400a7c204c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9f4c7bbc9e4d1c" /><Relationship Type="http://schemas.openxmlformats.org/officeDocument/2006/relationships/notesMaster" Target="/ppt/notesMasters/notesMaster1.xml" Id="Rb050249b226d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bf4ef958a94882" /><Relationship Type="http://schemas.openxmlformats.org/officeDocument/2006/relationships/notesMaster" Target="/ppt/notesMasters/notesMaster1.xml" Id="Ra8a01458f414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(0:30): Introduce the project and the four speakers.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(1:30): Define the target as self-reported history; explain the low prevalence and always-negative accuracy.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(1:30): Summarize related work: paper-family CNN-GRU, tabular trees and calibration. Mention citations are on the reference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(1:00): Walk through the prevalence arithmetic; emphasize that it does not reveal the cause.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(1:30): Explain audit checks, raw row split, training-only operations, validation policy and test boundary.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 (2:00): Describe domain encoders, softmax gate and weighted embedding; gate allocations are not causal.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 (2:00): Present the primary five-seed table. Tree ranks first; grouped networks outperform sequential CNN-GRU; gating has no observed advantage. Keep the variant result exploratory.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 (4:00): Explain validation threshold selection, measured test recall, calibration numbers and corrected-statistics caveat.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 (3:00): Explain SHAP/gate allocations, prevalence-sensitive subgroup precision, DCA caveat and interpretation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 (1:00): Summarize limitations and concrete future work. Invite questions.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only: references; do not spend presentation time reading the table.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d80853f7847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6adfd36874a4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 and body"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F79FC2-0E46-483C-A315-16B48ACAC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566400" cy="4749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5000"/>
              </a:lnSpc>
              <a:buNone/>
              <a:defRPr sz="3400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1pPr>
          </a:lstStyle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endParaRPr sz="3400">
              <a:latin typeface="Fraunces"/>
              <a:ea typeface="Fraunces"/>
              <a:cs typeface="Fraunces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EACF17-02C8-4FA4-A603-A035D792C44B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1592551"/>
            <a:ext cx="10566400" cy="4452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  <a:endParaRPr sz="1600">
              <a:latin typeface="Poppins"/>
              <a:ea typeface="Poppins"/>
              <a:cs typeface="Poppin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622f7852245cd" /><Relationship Type="http://schemas.openxmlformats.org/officeDocument/2006/relationships/slideLayout" Target="/ppt/slideLayouts/slideLayout1.xml" Id="R0a5245dd92854200" /><Relationship Type="http://schemas.openxmlformats.org/officeDocument/2006/relationships/slideLayout" Target="/ppt/slideLayouts/slideLayout2.xml" Id="Ra390fc6eb4ae4ea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948607-7092-436D-B73D-31F5452D0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566400" cy="4749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5000"/>
              </a:lnSpc>
              <a:buNone/>
              <a:defRPr sz="3400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1pPr>
          </a:lstStyle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endParaRPr sz="3400">
              <a:latin typeface="Fraunces"/>
              <a:ea typeface="Fraunces"/>
              <a:cs typeface="Fraunces"/>
            </a:endParaR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DA427E-CADE-43C1-BF4D-18D86F0A3D8E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1592551"/>
            <a:ext cx="10566400" cy="4452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  <a:endParaRPr sz="1600">
              <a:latin typeface="Poppins"/>
              <a:ea typeface="Poppins"/>
              <a:cs typeface="Poppi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5245dd92854200"/>
    <p:sldLayoutId xmlns:r="http://schemas.openxmlformats.org/officeDocument/2006/relationships" id="2147483650" r:id="Ra390fc6eb4ae4ea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GGN: Cardiovascular Risk Screening — Project Deck">
  <a:themeElements>
    <a:clrScheme name="FGGN: Cardiovascular Risk Screening — Project Deck">
      <a:dk1>
        <a:srgbClr val="3E2F52"/>
      </a:dk1>
      <a:lt1>
        <a:srgbClr val="FFF8F3"/>
      </a:lt1>
      <a:dk2>
        <a:srgbClr val="6E617A"/>
      </a:dk2>
      <a:lt2>
        <a:srgbClr val="ECE4E3"/>
      </a:lt2>
      <a:accent1>
        <a:srgbClr val="5B4670"/>
      </a:accent1>
      <a:accent2>
        <a:srgbClr val="F4D6DC"/>
      </a:accent2>
      <a:accent3>
        <a:srgbClr val="9AA0A6"/>
      </a:accent3>
      <a:accent4>
        <a:srgbClr val="8B7F92"/>
      </a:accent4>
      <a:accent5>
        <a:srgbClr val="A89EAB"/>
      </a:accent5>
      <a:accent6>
        <a:srgbClr val="C5BCC3"/>
      </a:accent6>
      <a:hlink>
        <a:srgbClr val="0563C1"/>
      </a:hlink>
      <a:folHlink>
        <a:srgbClr val="954F72"/>
      </a:folHlink>
    </a:clrScheme>
    <a:fontScheme name="FGGN: Cardiovascular Risk Screening — Project Deck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GGN: Cardiovascular Risk Screening — Project De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9d0662adda4a7d" /><Relationship Type="http://schemas.openxmlformats.org/officeDocument/2006/relationships/image" Target="/ppt/media/image.png" Id="R09fe49288d0d4cc4" /><Relationship Type="http://schemas.openxmlformats.org/officeDocument/2006/relationships/image" Target="/ppt/media/image2.png" Id="R31e3c9beea814369" /><Relationship Type="http://schemas.openxmlformats.org/officeDocument/2006/relationships/image" Target="/ppt/media/image3.png" Id="R5bba175ca7814c79" /><Relationship Type="http://schemas.openxmlformats.org/officeDocument/2006/relationships/notesSlide" Target="/ppt/notesSlides/notesSlide1.xml" Id="Rfe757bee576b43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9e71d6be44a21" /><Relationship Type="http://schemas.openxmlformats.org/officeDocument/2006/relationships/image" Target="/ppt/media/image4.png" Id="R710e39a4382c4a1f" /><Relationship Type="http://schemas.openxmlformats.org/officeDocument/2006/relationships/image" Target="/ppt/media/image5.png" Id="R1251ed1a45a64388" /><Relationship Type="http://schemas.openxmlformats.org/officeDocument/2006/relationships/notesSlide" Target="/ppt/notesSlides/notesSlide2.xml" Id="R71527289e16c49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7acc9a23194169" /><Relationship Type="http://schemas.openxmlformats.org/officeDocument/2006/relationships/image" Target="/ppt/media/image6.png" Id="R016e4fffd33f4ace" /><Relationship Type="http://schemas.openxmlformats.org/officeDocument/2006/relationships/notesSlide" Target="/ppt/notesSlides/notesSlide3.xml" Id="Rb87218a0f5a4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b1988ed77443b1" /><Relationship Type="http://schemas.openxmlformats.org/officeDocument/2006/relationships/image" Target="/ppt/media/image7.png" Id="R38c76097db6e4d3e" /><Relationship Type="http://schemas.openxmlformats.org/officeDocument/2006/relationships/notesSlide" Target="/ppt/notesSlides/notesSlide4.xml" Id="R93a173a39152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f0a05ccf924de2" /><Relationship Type="http://schemas.openxmlformats.org/officeDocument/2006/relationships/image" Target="/ppt/media/image8.png" Id="R01e369c7dc9e4067" /><Relationship Type="http://schemas.openxmlformats.org/officeDocument/2006/relationships/notesSlide" Target="/ppt/notesSlides/notesSlide5.xml" Id="R40c27b63adfd4a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6d8d53fe64459c" /><Relationship Type="http://schemas.openxmlformats.org/officeDocument/2006/relationships/image" Target="/ppt/media/image9.png" Id="R3973e10779124b3c" /><Relationship Type="http://schemas.openxmlformats.org/officeDocument/2006/relationships/notesSlide" Target="/ppt/notesSlides/notesSlide6.xml" Id="Rc464dee8a78747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773cf5cf540f9" /><Relationship Type="http://schemas.openxmlformats.org/officeDocument/2006/relationships/image" Target="/ppt/media/image10.png" Id="Rce7400f2e32e4dac" /><Relationship Type="http://schemas.openxmlformats.org/officeDocument/2006/relationships/notesSlide" Target="/ppt/notesSlides/notesSlide7.xml" Id="R486f1a6de1d644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52561c0194a8b" /><Relationship Type="http://schemas.openxmlformats.org/officeDocument/2006/relationships/notesSlide" Target="/ppt/notesSlides/notesSlide8.xml" Id="Rfe3ff04794cb43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31ba73dac461c" /><Relationship Type="http://schemas.openxmlformats.org/officeDocument/2006/relationships/notesSlide" Target="/ppt/notesSlides/notesSlide9.xml" Id="R2bb7678ba55a4a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e9554a0b443ee" /><Relationship Type="http://schemas.openxmlformats.org/officeDocument/2006/relationships/image" Target="/ppt/media/image11.png" Id="R94c8dc1d64f54ad3" /><Relationship Type="http://schemas.openxmlformats.org/officeDocument/2006/relationships/notesSlide" Target="/ppt/notesSlides/notesSlide10.xml" Id="R7691526f80d34d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fd342ec504183" /><Relationship Type="http://schemas.openxmlformats.org/officeDocument/2006/relationships/image" Target="/ppt/media/image12.png" Id="R0d012ba249fd4ab7" /><Relationship Type="http://schemas.openxmlformats.org/officeDocument/2006/relationships/notesSlide" Target="/ppt/notesSlides/notesSlide11.xml" Id="R665192b1197e41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D6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9CE8725-3897-411A-8685-35E705139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e49288d0d4cc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37500" y="0"/>
            <a:ext cx="4826000" cy="4826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86E58E0B-9B10-4DC5-8467-F0272CE5D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3c9beea81436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572000"/>
            <a:ext cx="3937000" cy="3937000"/>
          </a:xfrm>
          <a:prstGeom xmlns:a="http://schemas.openxmlformats.org/drawingml/2006/main" prst="rect">
            <a:avLst/>
          </a:prstGeom>
        </p:spPr>
      </p:pic>
      <p:pic>
        <p:nvPicPr>
          <p:cNvPr id="4" name="Image 2">
            <a:extLst xmlns:a="http://schemas.openxmlformats.org/drawingml/2006/main">
              <a:ext uri="{FF2B5EF4-FFF2-40B4-BE49-F238E27FC236}">
                <a16:creationId xmlns:a16="http://schemas.microsoft.com/office/drawing/2014/main" id="{FC70A298-C767-44ED-AF33-6FDD906D5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a175ca7814c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52000" y="46990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8DA51662-ABEE-43BC-9CA3-97F4BC3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9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00"/>
              </a:lnSpc>
              <a:buNone/>
            </a:pPr>
            <a:r>
              <a:rPr sz="1500" b="1" spc="200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DATA SCIENCE PROJECT</a:t>
            </a:r>
            <a:endParaRPr sz="1500">
              <a:latin typeface="Poppins"/>
              <a:ea typeface="Poppins"/>
              <a:cs typeface="Poppins"/>
            </a:endParaRP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EC9959A-007B-4AA9-9A22-87DEA83DD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1282700"/>
            <a:ext cx="8502650" cy="1518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880"/>
              </a:lnSpc>
              <a:buNone/>
            </a:pPr>
            <a:r>
              <a:rPr sz="56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Feature-Group Gated Network</a:t>
            </a:r>
            <a:endParaRPr sz="5600">
              <a:latin typeface="Fraunces"/>
              <a:ea typeface="Fraunces"/>
              <a:cs typeface="Fraunces"/>
            </a:endParaRPr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B711E309-069D-41EB-8072-3EB720FE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79305"/>
            <a:ext cx="7848600" cy="7454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35"/>
              </a:lnSpc>
              <a:buNone/>
            </a:pPr>
            <a:r>
              <a:rPr sz="21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Leakage-aware evaluation of self-reported cardiovascular history in CDC BRFSS 2015</a:t>
            </a:r>
            <a:endParaRPr sz="2100">
              <a:latin typeface="Poppins"/>
              <a:ea typeface="Poppins"/>
              <a:cs typeface="Poppins"/>
            </a:endParaRPr>
          </a:p>
        </p:txBody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FCE6674-EA9E-4CB4-8D58-966C2AD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5751080"/>
            <a:ext cx="4254356" cy="48779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462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100"/>
              </a:lnSpc>
              <a:buNone/>
            </a:pPr>
            <a:r>
              <a:rPr sz="15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Aarju Pawara  |  U24AI030  |  Research team</a:t>
            </a:r>
            <a:endParaRPr sz="15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68766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3633AB-3391-4737-8F95-883F6A285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Introduction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95B9DB02-19DB-4F45-AA75-D47F4BA88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e39a4382c4a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pic>
        <p:nvPicPr>
          <p:cNvPr id="4" name="Image 1">
            <a:extLst xmlns:a="http://schemas.openxmlformats.org/drawingml/2006/main">
              <a:ext uri="{FF2B5EF4-FFF2-40B4-BE49-F238E27FC236}">
                <a16:creationId xmlns:a16="http://schemas.microsoft.com/office/drawing/2014/main" id="{10CF56DA-3071-4FBC-84DF-1D0D7BCEA4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1ed1a45a643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906000" y="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A644DB03-F252-4044-B8BB-D44C70F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724025"/>
            <a:ext cx="5137150" cy="1828656"/>
          </a:xfrm>
          <a:prstGeom xmlns:a="http://schemas.openxmlformats.org/drawingml/2006/main" prst="roundRect">
            <a:avLst>
              <a:gd name="adj" fmla="val 8508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9C80A334-E439-438B-9424-12A219C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1948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The problem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8F8DD8B1-A5F3-492D-8159-498FA293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05" y="2296824"/>
            <a:ext cx="4807631" cy="1056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BRFSS records self-reported history of coronary heart disease or heart attack.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253,680 respondents; 9.42% positive.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An always-negative classifier is 90.58% accurate.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7530EC61-4A50-4B91-BDA6-2EF21D2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25" y="1724025"/>
            <a:ext cx="5137150" cy="1570903"/>
          </a:xfrm>
          <a:prstGeom xmlns:a="http://schemas.openxmlformats.org/drawingml/2006/main" prst="roundRect">
            <a:avLst>
              <a:gd name="adj" fmla="val 9904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2212FA7-BF3B-408F-B8ED-9BE00212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373" y="1948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The gap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63036D-0108-43AD-8C18-24B20AA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05" y="2296824"/>
            <a:ext cx="4807631" cy="798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2758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The paper reports 91.7% accuracy, 96% precision and 87.8% recall.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At natural prevalence, precision and recall imply about 98.5% accuracy.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This is an arithmetic inconsistency; its cause is unknown.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21D1617-733A-4E38-BA41-77FDDBE6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3883025"/>
            <a:ext cx="5137150" cy="1570903"/>
          </a:xfrm>
          <a:prstGeom xmlns:a="http://schemas.openxmlformats.org/drawingml/2006/main" prst="roundRect">
            <a:avLst>
              <a:gd name="adj" fmla="val 9904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B224FE3-A5CC-4BE8-B395-E41CBF8C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4107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Our idea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E5C492F-A18D-4C70-AAC5-FCAEF225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05" y="4455824"/>
            <a:ext cx="4807631" cy="798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5849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Organize 21 encoded predictors into four survey/health domains.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Compare learned gating with uniform pooling and tabular baselines.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Evaluate on untouched tests at natural prevalence.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25BB9A5-1F8D-4EDA-9DEB-F76E5A0E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25" y="3883025"/>
            <a:ext cx="5137150" cy="1570903"/>
          </a:xfrm>
          <a:prstGeom xmlns:a="http://schemas.openxmlformats.org/drawingml/2006/main" prst="roundRect">
            <a:avLst>
              <a:gd name="adj" fmla="val 9904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12A645A-8A47-40AD-93CF-59009DF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373" y="4107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Our goal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8CEAA04-4C10-467E-A910-F699D3E7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05" y="4455824"/>
            <a:ext cx="4807631" cy="7986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0253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Raw rows split before learned preprocessing.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Five seeds; thresholds and calibration chosen without test labels.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Report ties, uncertainty and limitations.</a:t>
            </a:r>
            <a:endParaRPr sz="14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92607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2DE9B9-460D-4F34-B768-6F339E40D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Literature Review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BB37F43E-8713-4370-9D7C-FEA9CC962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e4fffd33f4ac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Table 0">
            <a:extLst xmlns:a="http://schemas.openxmlformats.org/drawingml/2006/main">
              <a:ext uri="{FF2B5EF4-FFF2-40B4-BE49-F238E27FC236}">
                <a16:creationId xmlns:a16="http://schemas.microsoft.com/office/drawing/2014/main" id="{73FEAF5E-FBF6-427D-9D07-D3E1493BD9D5}"/>
              </a:ext>
            </a:extLst>
          </p:cNvPr>
          <p:cNvGraphicFramePr/>
          <p:nvPr/>
        </p:nvGraphicFramePr>
        <p:xfrm>
          <a:off xmlns:a="http://schemas.openxmlformats.org/drawingml/2006/main" x="822036" y="1660236"/>
          <a:ext xmlns:a="http://schemas.openxmlformats.org/drawingml/2006/main" cx="10557164" cy="375111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9146"/>
                <a:gridCol w="1689146"/>
                <a:gridCol w="3589436"/>
                <a:gridCol w="3589436"/>
              </a:tblGrid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Paper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Venue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What it did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Why it matters to us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</a:tr>
              <a:tr h="5755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Khan et al.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IEEE Access 2024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EnsCVDD-Net: 1D-CNN + GRU, 91.7% acc claimed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Paper we audit (next slide)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Grinsztajn et al.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NeurIPS 2022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Trees beat deep nets on tabular data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Why HistGBT is hard to beat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Arık &amp; Pfister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AAAI 2021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TabNet: attention over single columns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We gate whole clinical groups instead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5755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Shwartz-Ziv &amp; Armon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Info. Fusion 2022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Tabular deep learning vs XGBoost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Confirms trees stay strong baselines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5755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Van Calster et al.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J Clin Epidemiol 2016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Calibration hierarchy for risk models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Basis of our calibration check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57554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Nadeau &amp; Bengio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Machine Learning 2003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Corrected variance for repeated splits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Honest significance across seeds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Obermeyer et al.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Science 2019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Bias in health-risk algorithms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Motivates subgroup analysis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A8C337E2-3DE6-44AB-9BF5-88E3B7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98"/>
            <a:ext cx="9810750" cy="238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Full DOIs on the References slide</a:t>
            </a:r>
            <a:endParaRPr sz="12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71661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1A41B38-6ED0-46A3-B86E-A67EC3297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Our Paper Review: EnsCVDD-Net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663851E2-205A-4FE3-9E52-F778B74AD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76097db6e4d3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D8E4AA9-17DB-4B18-93C6-A70E0B3F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660525"/>
            <a:ext cx="3384550" cy="1066223"/>
          </a:xfrm>
          <a:prstGeom xmlns:a="http://schemas.openxmlformats.org/drawingml/2006/main" prst="roundRect">
            <a:avLst>
              <a:gd name="adj" fmla="val 14591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00DBC4-6D22-408A-A073-E8EEAA5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1834573"/>
            <a:ext cx="302290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00"/>
              </a:lnSpc>
              <a:buNone/>
            </a:pPr>
            <a:r>
              <a:rPr sz="3600" b="1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91.7%</a:t>
            </a:r>
            <a:endParaRPr sz="3600">
              <a:latin typeface="Fraunces"/>
              <a:ea typeface="Fraunces"/>
              <a:cs typeface="Fraunces"/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5669138-8B10-46BD-8C15-AB76B17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2329873"/>
            <a:ext cx="3022900" cy="2482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accuracy the paper reports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490CFD1-BA65-457C-8708-7E3F9C78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25" y="1660525"/>
            <a:ext cx="3384550" cy="12890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219E894-34D9-4E1D-9381-0336B6E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573" y="1834573"/>
            <a:ext cx="302290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00"/>
              </a:lnSpc>
              <a:buNone/>
            </a:pPr>
            <a:r>
              <a:rPr sz="3600" b="1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98.5%</a:t>
            </a:r>
            <a:endParaRPr sz="3600">
              <a:latin typeface="Fraunces"/>
              <a:ea typeface="Fraunces"/>
              <a:cs typeface="Fraunces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58D3BE-3DB3-481A-A92E-0656998E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573" y="2329873"/>
            <a:ext cx="3022900" cy="471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accuracy its precision and recall imply at 9.42% prevalence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F1BAA0-F5F0-4D56-9181-C07A4DDE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125" y="1660525"/>
            <a:ext cx="3384550" cy="12890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B9E986B-0E80-4249-83E7-ACD19CD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973" y="1834573"/>
            <a:ext cx="3022900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600"/>
              </a:lnSpc>
              <a:buNone/>
            </a:pPr>
            <a:r>
              <a:rPr sz="3600" b="1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≈52%</a:t>
            </a:r>
            <a:endParaRPr sz="3600">
              <a:latin typeface="Fraunces"/>
              <a:ea typeface="Fraunces"/>
              <a:cs typeface="Fraunces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D3F2088-7A9C-4C8C-B8F0-9DE4B40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973" y="2329873"/>
            <a:ext cx="3022900" cy="471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positive rate such a test set would need (our estimate)</a:t>
            </a:r>
            <a:endParaRPr sz="1300">
              <a:latin typeface="Poppins"/>
              <a:ea typeface="Poppins"/>
              <a:cs typeface="Poppins"/>
            </a:endParaRPr>
          </a:p>
        </p:txBody>
      </p:sp>
      <p:graphicFrame>
        <p:nvGraphicFramePr>
          <p:cNvPr id="13" name="Table 0">
            <a:extLst xmlns:a="http://schemas.openxmlformats.org/drawingml/2006/main">
              <a:ext uri="{FF2B5EF4-FFF2-40B4-BE49-F238E27FC236}">
                <a16:creationId xmlns:a16="http://schemas.microsoft.com/office/drawing/2014/main" id="{9FB0C77F-4BB4-4DC3-96CF-2C95C4054BE0}"/>
              </a:ext>
            </a:extLst>
          </p:cNvPr>
          <p:cNvGraphicFramePr/>
          <p:nvPr/>
        </p:nvGraphicFramePr>
        <p:xfrm>
          <a:off xmlns:a="http://schemas.openxmlformats.org/drawingml/2006/main" x="822036" y="3438236"/>
          <a:ext xmlns:a="http://schemas.openxmlformats.org/drawingml/2006/main" cx="10557164" cy="21201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1433"/>
                <a:gridCol w="4328437"/>
                <a:gridCol w="4117294"/>
              </a:tblGrid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Aspect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Paper (Khan et al., 2024)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This reimplementation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</a:tr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Test prevalence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Not stated with headline metrics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9.42% natural prevalence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Metric consistency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91.7% accuracy; 96% precision; 87.8% recall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About 98.5% accuracy implied at 9.42% prevalence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Model implementation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CNN-GRU model family; no executable source supplied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Structural reimplementation; exact equivalence unverified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Evaluation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Headline accuracy, precision and recall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Five seeds; PR-AUC, ROC-AUC, calibration and thresholds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5336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Conclusion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Published metric triplet cannot be reconciled from stated prevalence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sz="115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Arithmetic audit does not identify the cause</a:t>
                      </a:r>
                      <a:endParaRPr sz="115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4801975-F9C2-4EEC-A9FF-A998E4D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98"/>
            <a:ext cx="9810750" cy="238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The metric arithmetic is inconsistent; it does not establish the original evaluation procedure.</a:t>
            </a:r>
            <a:endParaRPr sz="12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96027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C1CF682-6B37-4857-BFA4-83B583D0B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Methodology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6167E87C-7C1B-4845-817C-A3A8331C90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369c7dc9e40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5762E9F-5BC2-45B4-8971-4223B138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724025"/>
            <a:ext cx="5137150" cy="1828656"/>
          </a:xfrm>
          <a:prstGeom xmlns:a="http://schemas.openxmlformats.org/drawingml/2006/main" prst="roundRect">
            <a:avLst>
              <a:gd name="adj" fmla="val 8508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F4EEE1-538B-466D-8A86-38696F3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1948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Dataset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01EB7C4-B2CC-490A-8330-370B098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05" y="2296824"/>
            <a:ext cx="4807631" cy="1056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CDC BRFSS 2015, Kaggle-derived subset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253,680 rows; 21 encoded predictors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Target: self-reported CHD or heart attack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9.42% positive; validation/test remain natural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D108939-878F-453E-83F4-46BF111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25" y="1724025"/>
            <a:ext cx="5137150" cy="2086408"/>
          </a:xfrm>
          <a:prstGeom xmlns:a="http://schemas.openxmlformats.org/drawingml/2006/main" prst="roundRect">
            <a:avLst>
              <a:gd name="adj" fmla="val 7457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E73896B-E386-480F-882C-61D7A06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373" y="1948873"/>
            <a:ext cx="482807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Leakage-safe protocol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7F9FF3-EF9D-4B42-8069-C459237B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05" y="2296824"/>
            <a:ext cx="4807631" cy="13141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Stratified raw split: 70/15/15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Train-only scaling, PBCC, weights and model fit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ADASYN only in training-side ablations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Validation-only threshold/calibration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Untouched natural test; measure recall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225DAA8-2717-4D8C-A251-CABAD9FE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81500"/>
            <a:ext cx="2111433" cy="29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00"/>
              </a:lnSpc>
              <a:buNone/>
            </a:pPr>
            <a:r>
              <a:rPr sz="1500" b="1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Models compared</a:t>
            </a:r>
            <a:endParaRPr sz="1500">
              <a:latin typeface="Poppins"/>
              <a:ea typeface="Poppins"/>
              <a:cs typeface="Poppins"/>
            </a:endParaR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CA5C19-01E9-421F-9116-D44FC624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4708525"/>
            <a:ext cx="1822450" cy="503021"/>
          </a:xfrm>
          <a:prstGeom xmlns:a="http://schemas.openxmlformats.org/drawingml/2006/main" prst="roundRect">
            <a:avLst>
              <a:gd name="adj" fmla="val 28403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68701" tIns="94101" rIns="68701" bIns="6870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Logistic Reg.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B1954FF-62F1-4415-B2F2-8CD4EE5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4708525"/>
            <a:ext cx="1822450" cy="503021"/>
          </a:xfrm>
          <a:prstGeom xmlns:a="http://schemas.openxmlformats.org/drawingml/2006/main" prst="roundRect">
            <a:avLst>
              <a:gd name="adj" fmla="val 28403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68701" tIns="94101" rIns="68701" bIns="68701" anchor="t">
            <a:normAutofit fontScale="8747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HistGradientBoosting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FC4235F-AE79-4286-A83B-147E834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08525"/>
            <a:ext cx="1822450" cy="503021"/>
          </a:xfrm>
          <a:prstGeom xmlns:a="http://schemas.openxmlformats.org/drawingml/2006/main" prst="roundRect">
            <a:avLst>
              <a:gd name="adj" fmla="val 28403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68701" tIns="94101" rIns="68701" bIns="6870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EnsCVDD-Net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475AE5D-C77D-4C1F-8181-C55EB62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225" y="4708525"/>
            <a:ext cx="1822450" cy="503021"/>
          </a:xfrm>
          <a:prstGeom xmlns:a="http://schemas.openxmlformats.org/drawingml/2006/main" prst="roundRect">
            <a:avLst>
              <a:gd name="adj" fmla="val 28403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68702" tIns="94101" rIns="68700" bIns="6870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UniformGroupNet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304F07D-AEF5-419E-8FA5-EE459F2A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525" y="4708525"/>
            <a:ext cx="1822450" cy="503021"/>
          </a:xfrm>
          <a:prstGeom xmlns:a="http://schemas.openxmlformats.org/drawingml/2006/main" prst="roundRect">
            <a:avLst>
              <a:gd name="adj" fmla="val 28403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68702" tIns="94101" rIns="68700" bIns="68701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FGGN</a:t>
            </a:r>
            <a:endParaRPr sz="13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70893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FBFF48-B30C-4339-A800-3E504FCC0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Model Explanation: FGGN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7763306C-C949-4FC7-9428-4DB7F9C18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3e10779124b3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7E9393B-EBF0-42F9-9418-3E7F21D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724025"/>
            <a:ext cx="2266950" cy="848447"/>
          </a:xfrm>
          <a:prstGeom xmlns:a="http://schemas.openxmlformats.org/drawingml/2006/main" prst="roundRect">
            <a:avLst>
              <a:gd name="adj" fmla="val 1833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3F1F490-1079-4DA3-831D-936E2E3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1" y="1910773"/>
            <a:ext cx="1950258" cy="269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20"/>
              </a:lnSpc>
              <a:buNone/>
            </a:pPr>
            <a:r>
              <a:rPr sz="16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Clinical History</a:t>
            </a:r>
            <a:endParaRPr sz="1600">
              <a:latin typeface="Poppins"/>
              <a:ea typeface="Poppins"/>
              <a:cs typeface="Poppins"/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60C6804-77CF-40B8-A2A1-D3E805A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71" y="2154600"/>
            <a:ext cx="1950258" cy="256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avg gate 31.8%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8144496-4203-487F-AE0C-DAB7088D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1724025"/>
            <a:ext cx="2266950" cy="1092272"/>
          </a:xfrm>
          <a:prstGeom xmlns:a="http://schemas.openxmlformats.org/drawingml/2006/main" prst="roundRect">
            <a:avLst>
              <a:gd name="adj" fmla="val 14243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FC17BB3-8E1E-4DD7-B81C-EA47CFDC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321" y="1910773"/>
            <a:ext cx="1950258" cy="513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20"/>
              </a:lnSpc>
              <a:buNone/>
            </a:pPr>
            <a:r>
              <a:rPr sz="16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Self-Reported Health</a:t>
            </a:r>
            <a:endParaRPr sz="1600">
              <a:latin typeface="Poppins"/>
              <a:ea typeface="Poppins"/>
              <a:cs typeface="Poppins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A7F3AEC-5371-4CAF-B886-E2BFAAB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321" y="2398424"/>
            <a:ext cx="1950258" cy="256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avg gate 30.3%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746CAF-BED1-4A25-B791-1C4A10E7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24025"/>
            <a:ext cx="2266950" cy="848447"/>
          </a:xfrm>
          <a:prstGeom xmlns:a="http://schemas.openxmlformats.org/drawingml/2006/main" prst="roundRect">
            <a:avLst>
              <a:gd name="adj" fmla="val 1833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B90856E-825D-4CBD-B26F-46D20311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971" y="1910773"/>
            <a:ext cx="1950258" cy="2692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20"/>
              </a:lnSpc>
              <a:buNone/>
            </a:pPr>
            <a:r>
              <a:rPr sz="16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Lifestyle</a:t>
            </a:r>
            <a:endParaRPr sz="1600">
              <a:latin typeface="Poppins"/>
              <a:ea typeface="Poppins"/>
              <a:cs typeface="Poppins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F356DE-1F4B-493F-8250-FC58E80C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971" y="2154600"/>
            <a:ext cx="1950258" cy="256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avg gate 25.8%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B86003A-7C2C-4470-92D6-773B895F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1724025"/>
            <a:ext cx="2266950" cy="1092272"/>
          </a:xfrm>
          <a:prstGeom xmlns:a="http://schemas.openxmlformats.org/drawingml/2006/main" prst="roundRect">
            <a:avLst>
              <a:gd name="adj" fmla="val 14243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E020CF9-725D-4308-9C21-76B6404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621" y="1910773"/>
            <a:ext cx="1950258" cy="513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20"/>
              </a:lnSpc>
              <a:buNone/>
            </a:pPr>
            <a:r>
              <a:rPr sz="16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Demographics / Access</a:t>
            </a:r>
            <a:endParaRPr sz="1600">
              <a:latin typeface="Poppins"/>
              <a:ea typeface="Poppins"/>
              <a:cs typeface="Poppins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32E9374-317E-4455-8F36-34F631BC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621" y="2398424"/>
            <a:ext cx="1950258" cy="256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avg gate 12.1%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E1E1-ADED-4EFB-A43B-5A051F04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3057525"/>
            <a:ext cx="2266950" cy="784947"/>
          </a:xfrm>
          <a:prstGeom xmlns:a="http://schemas.openxmlformats.org/drawingml/2006/main" prst="roundRect">
            <a:avLst>
              <a:gd name="adj" fmla="val 18202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90337" tIns="119501" rIns="90337" bIns="94101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① Small MLP encoder per group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2F974F0-1A59-4142-8E74-87635D5D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975" y="3057525"/>
            <a:ext cx="2266950" cy="784947"/>
          </a:xfrm>
          <a:prstGeom xmlns:a="http://schemas.openxmlformats.org/drawingml/2006/main" prst="roundRect">
            <a:avLst>
              <a:gd name="adj" fmla="val 18202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90337" tIns="119501" rIns="90337" bIns="94101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② Softmax gate weights groups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A34AC49-1C17-45DE-80C5-EAE2504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2266950" cy="784947"/>
          </a:xfrm>
          <a:prstGeom xmlns:a="http://schemas.openxmlformats.org/drawingml/2006/main" prst="roundRect">
            <a:avLst>
              <a:gd name="adj" fmla="val 18202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90337" tIns="119501" rIns="90337" bIns="94101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③ Weighted sum of embeddings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593074E-E84F-47A7-8D05-9E18E21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3057525"/>
            <a:ext cx="2266950" cy="784947"/>
          </a:xfrm>
          <a:prstGeom xmlns:a="http://schemas.openxmlformats.org/drawingml/2006/main" prst="roundRect">
            <a:avLst>
              <a:gd name="adj" fmla="val 18202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  <p:txBody>
          <a:bodyPr xmlns:a="http://schemas.openxmlformats.org/drawingml/2006/main" wrap="square" lIns="90338" tIns="119501" rIns="90337" bIns="94101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④ Risk probability output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063153-A2FF-46AE-B6D4-E880E4D7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4391025"/>
            <a:ext cx="10547350" cy="1313151"/>
          </a:xfrm>
          <a:prstGeom xmlns:a="http://schemas.openxmlformats.org/drawingml/2006/main" prst="roundRect">
            <a:avLst>
              <a:gd name="adj" fmla="val 11847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8988568-7A15-48D9-9DDF-D0EECC9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4615873"/>
            <a:ext cx="10400585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What we found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8E4C262-DA19-4D43-96B7-C3768E19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05" y="4963824"/>
            <a:ext cx="10380138" cy="540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Primary five-seed result: FGGN PR-AUC 0.3689; UniformGroupNet 0.3693.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Learned gating did not improve ranking over uniform pooling.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CrossGroupInteraction-FGGN 0.3733 is from a broader exploratory benchmark, not a confirmed winner.</a:t>
            </a:r>
            <a:endParaRPr sz="14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99407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0D755B-17DE-4EF6-8B6D-983F0B5C3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Results and Evaluation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D2BC0BFA-EB7C-4194-9E47-4FDFB4E15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400f2e32e4da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Table 0">
            <a:extLst xmlns:a="http://schemas.openxmlformats.org/drawingml/2006/main">
              <a:ext uri="{FF2B5EF4-FFF2-40B4-BE49-F238E27FC236}">
                <a16:creationId xmlns:a16="http://schemas.microsoft.com/office/drawing/2014/main" id="{6D63FA61-1FC1-4814-A604-E50F21940339}"/>
              </a:ext>
            </a:extLst>
          </p:cNvPr>
          <p:cNvGraphicFramePr/>
          <p:nvPr/>
        </p:nvGraphicFramePr>
        <p:xfrm>
          <a:off xmlns:a="http://schemas.openxmlformats.org/drawingml/2006/main" x="822036" y="1660236"/>
          <a:ext xmlns:a="http://schemas.openxmlformats.org/drawingml/2006/main" cx="4769462" cy="217343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  <a:gridCol w="2333625"/>
              </a:tblGrid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Model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PR-AUC (mean +/- SD)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ROC-AUC (mean +/- SD)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HistGradientBoosting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0.3717 +/- 0.0067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0.8483 +/- 0.0026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UniformGroupNet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0.3693 +/- 0.0070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0.8478 +/- 0.0026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FGGN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0.3689 +/- 0.0068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0.8478 +/- 0.0026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Logistic regression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0.3673 +/- 0.0063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0.8462 +/- 0.0029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62239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EnsCVDD-Net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0.3563 +/- 0.0055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0.8442 +/- 0.0030</a:t>
                      </a:r>
                      <a:endParaRPr sz="12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69850" marB="6985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Shape 1">
            <a:extLst xmlns:a="http://schemas.openxmlformats.org/drawingml/2006/main">
              <a:ext uri="{FF2B5EF4-FFF2-40B4-BE49-F238E27FC236}">
                <a16:creationId xmlns:a16="http://schemas.microsoft.com/office/drawing/2014/main" id="{B5C2C4BC-704E-4E44-9008-5AFD9447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60525"/>
            <a:ext cx="3359150" cy="1313151"/>
          </a:xfrm>
          <a:prstGeom xmlns:a="http://schemas.openxmlformats.org/drawingml/2006/main" prst="roundRect">
            <a:avLst>
              <a:gd name="adj" fmla="val 11847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A7A670A5-2398-4CA8-A382-F11917B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373" y="1885373"/>
            <a:ext cx="299673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Primary results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8B5AE0-89E1-49EF-8FF0-B6C13FF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105" y="2233324"/>
            <a:ext cx="2976291" cy="540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1554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Best PR-AUC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HistGradientBoosting: 0.3717 +/- 0.0067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1F7750BF-5AB0-4D77-B19C-828ECD9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57525"/>
            <a:ext cx="3359150" cy="1313151"/>
          </a:xfrm>
          <a:prstGeom xmlns:a="http://schemas.openxmlformats.org/drawingml/2006/main" prst="roundRect">
            <a:avLst>
              <a:gd name="adj" fmla="val 11847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A9E7119-4202-4B73-8E9A-9FA213A1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373" y="3282373"/>
            <a:ext cx="299673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Gating comparison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0B02129-7E2A-4EB9-B30A-24878C2B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105" y="3630324"/>
            <a:ext cx="2976291" cy="540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FGGN 0.3689 vs Uniform 0.3693</a:t>
            </a:r>
            <a:endParaRPr sz="14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sz="14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Corrected p = 0.448</a:t>
            </a:r>
            <a:endParaRPr sz="1400">
              <a:latin typeface="Poppins"/>
              <a:ea typeface="Poppins"/>
              <a:cs typeface="Poppins"/>
            </a:endParaRP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2818D9B-AADC-4697-88D3-E0BD084F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54525"/>
            <a:ext cx="3359150" cy="1515702"/>
          </a:xfrm>
          <a:prstGeom xmlns:a="http://schemas.openxmlformats.org/drawingml/2006/main" prst="roundRect">
            <a:avLst>
              <a:gd name="adj" fmla="val 10264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3912362-47BF-4D2F-8A12-CA84DA7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373" y="4679373"/>
            <a:ext cx="2996738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Takeaway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CFBE2CF-37A9-4015-BDC4-F2A3ECB7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373" y="5027324"/>
            <a:ext cx="2996738" cy="7434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85"/>
              </a:lnSpc>
              <a:buNone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Group structure helps vs CNN-GRU; trees rank first.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5C16308-035D-4A2D-AB28-DA4C8F3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98"/>
            <a:ext cx="9810750" cy="2387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Five seeds | natural test prevalence 9.42% | validation recall target 80%; test recall is an outcome</a:t>
            </a:r>
            <a:endParaRPr sz="12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6732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51E6F-E43A-4719-89A2-BCEBAAA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defPPr>
            <a:lvl1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1pPr>
            <a:lvl2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2pPr>
            <a:lvl3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3pPr>
            <a:lvl4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4pPr>
            <a:lvl5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5pPr>
            <a:lvl6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6pPr>
            <a:lvl7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7pPr>
            <a:lvl8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8pPr>
            <a:lvl9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pPr>
            <a:r>
              <a:rPr sz="3300" b="1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Operating point, calibration &amp;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3567E-B602-474A-93B9-70F249B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1DE61-263A-46FD-9EFA-9047115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5048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324C-6387-415F-A2F5-6E8471D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383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Train -&gt; validation -&gt; freeze -&gt;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9114-2949-48F9-8E40-AC5819C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19325"/>
            <a:ext cx="4705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Split raw rows first.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Fit model/preprocessing on train.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Choose threshold and calibration on validation.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Evaluate once on untouched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93D32-60C9-4A3A-86A5-2C199726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1911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F9E96-FE05-4C7D-B3A8-DA69ED24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Recall-constrained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D772C-839F-45F6-9FBF-2CC3CC0B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9325"/>
            <a:ext cx="48482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Validation target: 80% recall.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HistGradientBoosting test: 79.66% recall, 24.66% precision, 74.69% specificity.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The test result is measured, not guaranteed.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B1A18-B04B-4F30-8EE6-5930C8F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5048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EA18A-7C15-40F0-ACAB-61687DA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Brier score: probability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09670-692F-4268-9047-062D695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29125"/>
            <a:ext cx="4705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HistGradientBoosting, uncalibrated: 0.1654.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Constant-prevalence reference: 0.0853.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Validation-fitted Platt: 0.0706.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Validation-fitted isotonic: 0.0703.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E3AD3-F851-4E2A-A2F6-49F8ED6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5191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B6F6B-6A4C-4D12-AEF0-EA3ABFD3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484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Statistical caution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2DD75-BEC9-4D9D-B47B-7B66646E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29125"/>
            <a:ext cx="48482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FGGN vs EnsCVDD-Net: corrected p=0.0011; Wilcoxon p=0.0625.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FGGN vs UniformGroupNet: corrected p=0.448.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Five repeated holdouts are sensitivity evidence, not definitive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380DF-E651-4FD0-A115-C55C7C8E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53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defPPr>
            <a:lvl1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1pPr>
            <a:lvl2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2pPr>
            <a:lvl3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3pPr>
            <a:lvl4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4pPr>
            <a:lvl5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5pPr>
            <a:lvl6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6pPr>
            <a:lvl7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7pPr>
            <a:lvl8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8pPr>
            <a:lvl9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P3 | thresholds and calibrators are selected without test labels</a:t>
            </a:r>
          </a:p>
        </p:txBody>
      </p:sp>
    </p:spTree>
    <p:extLst>
      <p:ext uri="{BB962C8B-B14F-4D97-AF65-F5344CB8AC3E}">
        <p14:creationId xmlns:p14="http://schemas.microsoft.com/office/powerpoint/2010/main" val="973887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5813C-54C5-496E-8E8E-08CF079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defPPr>
            <a:lvl1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1pPr>
            <a:lvl2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2pPr>
            <a:lvl3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3pPr>
            <a:lvl4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4pPr>
            <a:lvl5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5pPr>
            <a:lvl6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6pPr>
            <a:lvl7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7pPr>
            <a:lvl8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8pPr>
            <a:lvl9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3E2F52"/>
                </a:solidFill>
                <a:latin typeface="Fraunces"/>
                <a:ea typeface="Fraunces"/>
                <a:cs typeface="Fraunces"/>
              </a:defRPr>
            </a:pPr>
            <a:r>
              <a:rPr sz="3300" b="1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Explainability, subgroup patterns &amp;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7F1CF-B28E-4FE7-ABB6-0B3AB49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F3F71-EF2F-468E-9979-1CF9445C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76734-2D70-4E5E-B0CB-D70FDFA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383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FGGN group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BF8CF-3421-4958-ADC4-AFF6E8C3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1932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Clinical history 31.8%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Self-reported health 30.3%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Lifestyle 25.8%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Access &amp; demographics 12.1%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9A761-363A-4716-8ACB-AF1192A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77DF9-253A-4EE1-8FFF-16675FA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383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Tree attribution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51BE0-EA52-40AE-80E5-53744C74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1932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Top features include GenHlth, Age, HighBP, Stroke, DiffWalk and BMI.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Gate weights and SHAP are predictive associations, not causal effects.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8E05B-45E8-45C3-B19B-F82A706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915-4BD8-41B2-BB72-4F70FDEA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383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Subgroups &amp; DCA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B7C15-F78B-4203-A70A-09489EF8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19325"/>
            <a:ext cx="2990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Positive prevalence varies by age (1.38% young; 17.25% older).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Precision is prevalence-sensitive.</a:t>
            </a:r>
          </a:p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DCA is a decision-theoretic sensitivity analysis, not clinical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D69F8-26F7-49AB-A9F3-E72160AC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72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Interpretation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15880-01CB-485D-90D4-B36EC6C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33C09-0F05-4B43-BFB7-B0B721B8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577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Survey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A47BD-021F-454C-BC68-DE3D4EB1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387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Self-reported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64EB4-7FAE-45DE-B1DB-3477806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72050"/>
            <a:ext cx="762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7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A8EF0-44F0-4D66-A666-D0DEC56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48221-1C22-4ABF-BF38-1DDFA5C0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Model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662FC-F865-45C7-8FF1-B7EFD515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38750"/>
            <a:ext cx="1990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Classification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F63B2-46C7-4A6E-A448-3585837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762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7B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AD47E-CE3E-4514-8D39-BE20322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14875"/>
            <a:ext cx="3810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D6DC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926BD-CCE9-413C-8092-4123085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575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CF66D-042A-4B9E-A658-BB2E6C4F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3875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defPPr>
            <a:lvl1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1pPr>
            <a:lvl2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2pPr>
            <a:lvl3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3pPr>
            <a:lvl4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4pPr>
            <a:lvl5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5pPr>
            <a:lvl6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6pPr>
            <a:lvl7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7pPr>
            <a:lvl8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8pPr>
            <a:lvl9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>
                <a:solidFill>
                  <a:srgbClr val="3E2F52"/>
                </a:solidFill>
                <a:latin typeface="Poppins"/>
                <a:ea typeface="Poppins"/>
                <a:cs typeface="Poppins"/>
              </a:defRPr>
            </a:pPr>
            <a:r>
              <a:rPr sz="1275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Not future risk or diagnosis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ADE09-E04D-49F3-86BA-C375FA8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531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defPPr>
            <a:lvl1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1pPr>
            <a:lvl2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2pPr>
            <a:lvl3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3pPr>
            <a:lvl4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4pPr>
            <a:lvl5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5pPr>
            <a:lvl6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6pPr>
            <a:lvl7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7pPr>
            <a:lvl8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8pPr>
            <a:lvl9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4670"/>
                </a:solidFill>
                <a:latin typeface="Poppins"/>
                <a:ea typeface="Poppins"/>
                <a:cs typeface="Poppins"/>
              </a:defRPr>
            </a:pPr>
            <a:r>
              <a:rPr sz="1125">
                <a:solidFill>
                  <a:srgbClr val="5B4670"/>
                </a:solidFill>
                <a:latin typeface="Poppins"/>
                <a:ea typeface="Poppins"/>
                <a:cs typeface="Poppins"/>
              </a:rPr>
              <a:t>P4 | external validation, subgroup calibration and prospective workflow evaluation remain future work</a:t>
            </a:r>
          </a:p>
        </p:txBody>
      </p:sp>
    </p:spTree>
    <p:extLst>
      <p:ext uri="{BB962C8B-B14F-4D97-AF65-F5344CB8AC3E}">
        <p14:creationId xmlns:p14="http://schemas.microsoft.com/office/powerpoint/2010/main" val="8113882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D6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6618AF-6E84-4E09-A0B4-2C14DE26F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Conclusion &amp; limitations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pic>
        <p:nvPicPr>
          <p:cNvPr id="3" name="Image 0">
            <a:extLst xmlns:a="http://schemas.openxmlformats.org/drawingml/2006/main">
              <a:ext uri="{FF2B5EF4-FFF2-40B4-BE49-F238E27FC236}">
                <a16:creationId xmlns:a16="http://schemas.microsoft.com/office/drawing/2014/main" id="{9E9B21C9-DF34-4486-9047-9D0A4C864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8dc1d64f54a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66D8FF1-9746-4502-BE1D-B70AAF85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724025"/>
            <a:ext cx="3384550" cy="2473109"/>
          </a:xfrm>
          <a:prstGeom xmlns:a="http://schemas.openxmlformats.org/drawingml/2006/main" prst="roundRect">
            <a:avLst>
              <a:gd name="adj" fmla="val 6291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B70F80-2F8C-42D0-965D-BEF80E3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73" y="1948873"/>
            <a:ext cx="3022900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Findings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C865563-D9D3-4A3C-AFEE-5166272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17" y="2296824"/>
            <a:ext cx="2995341" cy="17008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HistGradientBoosting leads primary PR-AUC (0.3717)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Grouped nets outperform sequential CNN-GRU (0.3563)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No observed gate advantage over uniform pooling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Isotonic Brier improves to 0.0703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4C9A051-C76F-4C01-9CFA-2C75FD46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25" y="1724025"/>
            <a:ext cx="3384550" cy="1994405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8F3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813F563-1EAA-462D-B30F-CD7A27E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573" y="1948873"/>
            <a:ext cx="3022900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Limitations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9D753B1-37ED-4818-A6C7-14D6A4A3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417" y="2296824"/>
            <a:ext cx="2995341" cy="122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886"/>
          </a:bodyPr>
          <a:lstStyle xmlns:a="http://schemas.openxmlformats.org/drawingml/2006/main"/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Self-reported, cross-sectional label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One cohort; five holdouts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Duplicate vectors can cross row splits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No clinical validation</a:t>
            </a:r>
            <a:endParaRPr sz="1300">
              <a:latin typeface="Poppins"/>
              <a:ea typeface="Poppins"/>
              <a:cs typeface="Poppins"/>
            </a:endParaRP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3364735-D815-413F-9781-4527DA5C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125" y="1724025"/>
            <a:ext cx="3384550" cy="1994405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9050">
            <a:solidFill>
              <a:srgbClr val="5B4670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52E74F5-A03B-4923-8DFA-1CEAE80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973" y="1948873"/>
            <a:ext cx="3022900" cy="2844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40"/>
              </a:lnSpc>
              <a:buNone/>
            </a:pPr>
            <a:r>
              <a:rPr sz="1700" b="1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Future work</a:t>
            </a:r>
            <a:endParaRPr sz="1700">
              <a:latin typeface="Poppins"/>
              <a:ea typeface="Poppins"/>
              <a:cs typeface="Poppins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421BA07-A3CF-4D8B-B3CF-00887A3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817" y="2296824"/>
            <a:ext cx="2995341" cy="12221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436"/>
          </a:bodyPr>
          <a:lstStyle xmlns:a="http://schemas.openxmlformats.org/drawingml/2006/main"/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Validate on newer/external cohorts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Use duplicate-group-aware evaluation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Audit subgroup calibration and fairness</a:t>
            </a:r>
            <a:endParaRPr sz="1300">
              <a:latin typeface="Poppins"/>
              <a:ea typeface="Poppins"/>
              <a:cs typeface="Poppins"/>
            </a:endParaRPr>
          </a:p>
          <a:p xmlns:a="http://schemas.openxmlformats.org/drawingml/2006/main">
            <a:pPr marL="168656" indent="-168656" algn="l">
              <a:lnSpc>
                <a:spcPts val="1885"/>
              </a:lnSpc>
              <a:buSzPct val="100000"/>
              <a:buChar char="•"/>
            </a:pPr>
            <a:r>
              <a:rPr sz="1300">
                <a:solidFill>
                  <a:srgbClr val="3E2F52"/>
                </a:solidFill>
                <a:latin typeface="Poppins"/>
                <a:ea typeface="Poppins"/>
                <a:cs typeface="Poppins"/>
              </a:rPr>
              <a:t>Pre-register threshold/ensemble tests</a:t>
            </a:r>
            <a:endParaRPr sz="1300">
              <a:latin typeface="Poppins"/>
              <a:ea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42647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7AAB22-2D47-4681-85FF-33C4AA4F1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2" cy="5003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40"/>
              </a:lnSpc>
              <a:buNone/>
            </a:pPr>
            <a:r>
              <a:rPr sz="3400" b="1" i="0">
                <a:solidFill>
                  <a:srgbClr val="3E2F52"/>
                </a:solidFill>
                <a:latin typeface="Fraunces"/>
                <a:ea typeface="Fraunces"/>
                <a:cs typeface="Fraunces"/>
              </a:rPr>
              <a:t>References</a:t>
            </a:r>
            <a:endParaRPr sz="3400">
              <a:latin typeface="Fraunces"/>
              <a:ea typeface="Fraunces"/>
              <a:cs typeface="Fraunces"/>
            </a:endParaRPr>
          </a:p>
        </p:txBody>
      </p:sp>
      <p:graphicFrame>
        <p:nvGraphicFramePr>
          <p:cNvPr id="3" name="Table 0">
            <a:extLst xmlns:a="http://schemas.openxmlformats.org/drawingml/2006/main">
              <a:ext uri="{FF2B5EF4-FFF2-40B4-BE49-F238E27FC236}">
                <a16:creationId xmlns:a16="http://schemas.microsoft.com/office/drawing/2014/main" id="{E17F310A-7B6A-4D98-AC5B-EF29970817B9}"/>
              </a:ext>
            </a:extLst>
          </p:cNvPr>
          <p:cNvGraphicFramePr/>
          <p:nvPr/>
        </p:nvGraphicFramePr>
        <p:xfrm>
          <a:off xmlns:a="http://schemas.openxmlformats.org/drawingml/2006/main" x="822036" y="1596736"/>
          <a:ext xmlns:a="http://schemas.openxmlformats.org/drawingml/2006/main" cx="10557164" cy="353485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7858"/>
                <a:gridCol w="5700868"/>
                <a:gridCol w="4328437"/>
              </a:tblGrid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#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Reference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FFF8F3"/>
                          </a:solidFill>
                          <a:latin typeface="Poppins"/>
                          <a:ea typeface="Poppins"/>
                          <a:cs typeface="Poppins"/>
                        </a:rPr>
                        <a:t>DOI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4B3B5C"/>
                      </a:solidFill>
                      <a:prstDash val="solid"/>
                    </a:lnL>
                    <a:lnR w="12700" cmpd="sng">
                      <a:solidFill>
                        <a:srgbClr val="4B3B5C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4B3B5C"/>
                      </a:solidFill>
                      <a:prstDash val="solid"/>
                    </a:lnB>
                    <a:solidFill>
                      <a:srgbClr val="5B4670"/>
                    </a:solidFill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Khan et al., IEEE Access, 2024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10.1109/ACCESS.2024.3421241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4B3B5C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2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Grinsztajn et al., NeurIPS, 2022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10.52202/068431-0037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3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Arık &amp; Pfister, AAAI, 2021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10.1609/aaai.v35i8.16826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4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Shwartz-Ziv &amp; Armon, Information Fusion, 2022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10.1016/j.inffus.2021.09.004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5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Van Calster et al., J. Clin. Epidemiol., 2016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10.1016/j.jclinepi.2015.12.005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6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Nadeau &amp; Bengio, Machine Learning, 2003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10.1023/A:1024068626366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7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Obermeyer et al., Science, 2019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10.1126/science.aax2342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  <a:tr h="39276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8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Teboul, Heart Disease Health Indicators (BRFSS 2015)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3E2F52"/>
                          </a:solidFill>
                          <a:latin typeface="Poppins"/>
                          <a:ea typeface="Poppins"/>
                          <a:cs typeface="Poppins"/>
                        </a:rPr>
                        <a:t>Kaggle dataset</a:t>
                      </a:r>
                      <a:endParaRPr sz="1300">
                        <a:latin typeface="Poppins"/>
                        <a:ea typeface="Poppins"/>
                        <a:cs typeface="Poppins"/>
                      </a:endParaRPr>
                    </a:p>
                  </a:txBody>
                  <a:tcPr marL="101600" marR="101600" marT="76200" marB="76200" anchor="t">
                    <a:lnL w="12700" cmpd="sng">
                      <a:solidFill>
                        <a:srgbClr val="CBC6C2"/>
                      </a:solidFill>
                      <a:prstDash val="solid"/>
                    </a:lnL>
                    <a:lnR w="12700" cmpd="sng">
                      <a:solidFill>
                        <a:srgbClr val="CBC6C2"/>
                      </a:solidFill>
                      <a:prstDash val="solid"/>
                    </a:lnR>
                    <a:lnT w="12700" cmpd="sng">
                      <a:solidFill>
                        <a:srgbClr val="CBC6C2"/>
                      </a:solidFill>
                      <a:prstDash val="solid"/>
                    </a:lnT>
                    <a:lnB w="12700" cmpd="sng">
                      <a:solidFill>
                        <a:srgbClr val="CBC6C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BAF2E453-A7D5-430F-A773-3F9151AF5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12ba249fd4ab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800" y="1409700"/>
            <a:ext cx="889000" cy="5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20696"/>
      </p:ext>
    </p:extLst>
  </p:cSld>
</p:sld>
</file>

<file path=ppt/theme/theme1.xml><?xml version="1.0" encoding="utf-8"?>
<a:theme xmlns:a="http://schemas.openxmlformats.org/drawingml/2006/main" name="FGGN: Cardiovascular Risk Screening — Project Deck">
  <a:themeElements>
    <a:clrScheme name="FGGN: Cardiovascular Risk Screening — Project Deck">
      <a:dk1>
        <a:srgbClr val="3E2F52"/>
      </a:dk1>
      <a:lt1>
        <a:srgbClr val="FFF8F3"/>
      </a:lt1>
      <a:dk2>
        <a:srgbClr val="6E617A"/>
      </a:dk2>
      <a:lt2>
        <a:srgbClr val="ECE4E3"/>
      </a:lt2>
      <a:accent1>
        <a:srgbClr val="5B4670"/>
      </a:accent1>
      <a:accent2>
        <a:srgbClr val="F4D6DC"/>
      </a:accent2>
      <a:accent3>
        <a:srgbClr val="9AA0A6"/>
      </a:accent3>
      <a:accent4>
        <a:srgbClr val="8B7F92"/>
      </a:accent4>
      <a:accent5>
        <a:srgbClr val="A89EAB"/>
      </a:accent5>
      <a:accent6>
        <a:srgbClr val="C5BCC3"/>
      </a:accent6>
      <a:hlink>
        <a:srgbClr val="0563C1"/>
      </a:hlink>
      <a:folHlink>
        <a:srgbClr val="954F72"/>
      </a:folHlink>
    </a:clrScheme>
    <a:fontScheme name="FGGN: Cardiovascular Risk Screening — Project Deck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GGN: Cardiovascular Risk Screening — Project Dec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2026-10-31T05:09:31.9610000Z</dcterms:created>
  <dcterms:modified xsi:type="dcterms:W3CDTF">2026-10-31T05:09:31.9610000Z</dcterms:modified>
</coreProperties>
</file>